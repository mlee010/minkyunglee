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76" r:id="rId4"/>
    <p:sldId id="277" r:id="rId5"/>
    <p:sldId id="260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44"/>
  </p:normalViewPr>
  <p:slideViewPr>
    <p:cSldViewPr snapToGrid="0">
      <p:cViewPr varScale="1">
        <p:scale>
          <a:sx n="104" d="100"/>
          <a:sy n="104" d="100"/>
        </p:scale>
        <p:origin x="23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343377D-4AD9-614A-8126-2872BFF8878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9AA5301-862C-AB4E-97C5-0DF511945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5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377D-4AD9-614A-8126-2872BFF8878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19AA5301-862C-AB4E-97C5-0DF511945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75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343377D-4AD9-614A-8126-2872BFF8878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9AA5301-862C-AB4E-97C5-0DF511945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29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377D-4AD9-614A-8126-2872BFF8878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A5301-862C-AB4E-97C5-0DF511945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292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377D-4AD9-614A-8126-2872BFF8878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A5301-862C-AB4E-97C5-0DF511945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893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377D-4AD9-614A-8126-2872BFF8878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A5301-862C-AB4E-97C5-0DF511945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6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377D-4AD9-614A-8126-2872BFF8878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A5301-862C-AB4E-97C5-0DF511945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48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343377D-4AD9-614A-8126-2872BFF8878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9AA5301-862C-AB4E-97C5-0DF511945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35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377D-4AD9-614A-8126-2872BFF8878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A5301-862C-AB4E-97C5-0DF511945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52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377D-4AD9-614A-8126-2872BFF8878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A5301-862C-AB4E-97C5-0DF511945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911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343377D-4AD9-614A-8126-2872BFF8878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9AA5301-862C-AB4E-97C5-0DF511945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409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343377D-4AD9-614A-8126-2872BFF88781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9AA5301-862C-AB4E-97C5-0DF5119457F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3119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embers.aect.org/pdf/Proceedings/proceedings21/2021/21_10.pdf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B526CBF-0AA4-49A9-B305-EE0AF3AF6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Lines intersecting at pushpin">
            <a:extLst>
              <a:ext uri="{FF2B5EF4-FFF2-40B4-BE49-F238E27FC236}">
                <a16:creationId xmlns:a16="http://schemas.microsoft.com/office/drawing/2014/main" id="{F18BDA4E-4C55-D8FE-05AD-F5EBB0ABB1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951" r="4523" b="659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CC8B5139-02E6-4DEA-9CCE-962CAF0AF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0470BC0-AB0D-4A03-B4F1-5DDA9A31C1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24A08B2-EC2C-4641-81BE-FE8B068BE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87834C-4A05-D4AD-3FE0-72530D81C8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200" y="2142067"/>
            <a:ext cx="3412067" cy="2971801"/>
          </a:xfrm>
        </p:spPr>
        <p:txBody>
          <a:bodyPr>
            <a:normAutofit/>
          </a:bodyPr>
          <a:lstStyle/>
          <a:p>
            <a:r>
              <a:rPr lang="en-US" sz="3300" b="1" dirty="0">
                <a:solidFill>
                  <a:srgbClr val="FFFFFF"/>
                </a:solidFill>
              </a:rPr>
              <a:t>1. Sensemaking with Concept Mapping</a:t>
            </a:r>
            <a:endParaRPr lang="en-US" sz="3300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A4303-D359-35F5-8593-AD426E693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54399" y="766070"/>
            <a:ext cx="54267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190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934D560-AA97-E87E-FB97-B534279C0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Course Context &amp; Design Problem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C547614-4E32-32C2-8756-A927AA986C5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63877" y="2320120"/>
          <a:ext cx="9972446" cy="3395259"/>
        </p:xfrm>
        <a:graphic>
          <a:graphicData uri="http://schemas.openxmlformats.org/drawingml/2006/table">
            <a:tbl>
              <a:tblPr firstCol="1">
                <a:tableStyleId>{00A15C55-8517-42AA-B614-E9B94910E393}</a:tableStyleId>
              </a:tblPr>
              <a:tblGrid>
                <a:gridCol w="2225260">
                  <a:extLst>
                    <a:ext uri="{9D8B030D-6E8A-4147-A177-3AD203B41FA5}">
                      <a16:colId xmlns:a16="http://schemas.microsoft.com/office/drawing/2014/main" val="763454866"/>
                    </a:ext>
                  </a:extLst>
                </a:gridCol>
                <a:gridCol w="7747186">
                  <a:extLst>
                    <a:ext uri="{9D8B030D-6E8A-4147-A177-3AD203B41FA5}">
                      <a16:colId xmlns:a16="http://schemas.microsoft.com/office/drawing/2014/main" val="3034752629"/>
                    </a:ext>
                  </a:extLst>
                </a:gridCol>
              </a:tblGrid>
              <a:tr h="668779"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Context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9952" marR="99952" marT="66635" marB="6663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Online undergraduate Information Science course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9952" marR="99952" marT="66635" marB="66635" anchor="ctr"/>
                </a:tc>
                <a:extLst>
                  <a:ext uri="{0D108BD9-81ED-4DB2-BD59-A6C34878D82A}">
                    <a16:rowId xmlns:a16="http://schemas.microsoft.com/office/drawing/2014/main" val="2519310836"/>
                  </a:ext>
                </a:extLst>
              </a:tr>
              <a:tr h="613040"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Design Problem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9952" marR="99952" marT="66635" marB="6663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Students struggled to see how system-design concepts relate in meaningful ways.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9952" marR="99952" marT="66635" marB="66635" anchor="ctr"/>
                </a:tc>
                <a:extLst>
                  <a:ext uri="{0D108BD9-81ED-4DB2-BD59-A6C34878D82A}">
                    <a16:rowId xmlns:a16="http://schemas.microsoft.com/office/drawing/2014/main" val="951713309"/>
                  </a:ext>
                </a:extLst>
              </a:tr>
              <a:tr h="852925">
                <a:tc>
                  <a:txBody>
                    <a:bodyPr/>
                    <a:lstStyle/>
                    <a:p>
                      <a:pPr rtl="0"/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</a:rPr>
                        <a:t>Instructional Solution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9952" marR="99952" marT="66635" marB="6663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Designed a two-step concept mapping task (Individual Map to Group Map) requiring collaboration to merge and refine ideas.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9952" marR="99952" marT="66635" marB="66635" anchor="ctr"/>
                </a:tc>
                <a:extLst>
                  <a:ext uri="{0D108BD9-81ED-4DB2-BD59-A6C34878D82A}">
                    <a16:rowId xmlns:a16="http://schemas.microsoft.com/office/drawing/2014/main" val="2044991755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rtl="0"/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</a:rPr>
                        <a:t>Tools Used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9952" marR="99952" marT="66635" marB="6663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</a:rPr>
                        <a:t>CmapTools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, synchronous video meeting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9952" marR="99952" marT="66635" marB="66635" anchor="ctr"/>
                </a:tc>
                <a:extLst>
                  <a:ext uri="{0D108BD9-81ED-4DB2-BD59-A6C34878D82A}">
                    <a16:rowId xmlns:a16="http://schemas.microsoft.com/office/drawing/2014/main" val="2585959738"/>
                  </a:ext>
                </a:extLst>
              </a:tr>
              <a:tr h="852925"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Key Impact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9952" marR="99952" marT="66635" marB="6663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Supported deeper explanation of relationships between concepts. Students actively engaged in comparing and merging their understanding.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9952" marR="99952" marT="66635" marB="66635" anchor="ctr"/>
                </a:tc>
                <a:extLst>
                  <a:ext uri="{0D108BD9-81ED-4DB2-BD59-A6C34878D82A}">
                    <a16:rowId xmlns:a16="http://schemas.microsoft.com/office/drawing/2014/main" val="1990370829"/>
                  </a:ext>
                </a:extLst>
              </a:tr>
            </a:tbl>
          </a:graphicData>
        </a:graphic>
      </p:graphicFrame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BC0132F-1716-15ED-F8F8-88ED101E2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40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F1BF0-D18F-3280-2EE9-9F1EDFB73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Instructional Design Solution: a two-step concept mapping task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FB0F4-5A1A-4F81-16D3-E297798D81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Learner Instructions (summarized):</a:t>
            </a:r>
            <a:endParaRPr lang="en-US" dirty="0"/>
          </a:p>
          <a:p>
            <a:r>
              <a:rPr lang="en-US" dirty="0"/>
              <a:t>Create an individual map identifying key concepts.</a:t>
            </a:r>
          </a:p>
          <a:p>
            <a:r>
              <a:rPr lang="en-US" dirty="0"/>
              <a:t>Meet in a group of three online.</a:t>
            </a:r>
          </a:p>
          <a:p>
            <a:r>
              <a:rPr lang="en-US" dirty="0"/>
              <a:t>Build one </a:t>
            </a:r>
            <a:r>
              <a:rPr lang="en-US" b="1" dirty="0"/>
              <a:t>shared concept map</a:t>
            </a:r>
            <a:r>
              <a:rPr lang="en-US" dirty="0"/>
              <a:t> (min 20 concepts) </a:t>
            </a:r>
          </a:p>
          <a:p>
            <a:r>
              <a:rPr lang="en-US" dirty="0"/>
              <a:t>Label relationships clearly.</a:t>
            </a:r>
          </a:p>
          <a:p>
            <a:r>
              <a:rPr lang="en-US" dirty="0"/>
              <a:t>Submit final map.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E9256-75E4-C231-7F5C-E90DEDABCA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Design Elements Included:</a:t>
            </a:r>
            <a:endParaRPr lang="en-US" dirty="0"/>
          </a:p>
          <a:p>
            <a:r>
              <a:rPr lang="en-US" dirty="0"/>
              <a:t>Clear prompt + structured instructions</a:t>
            </a:r>
          </a:p>
          <a:p>
            <a:r>
              <a:rPr lang="en-US" dirty="0"/>
              <a:t>Minimum concept count to guide depth</a:t>
            </a:r>
          </a:p>
          <a:p>
            <a:r>
              <a:rPr lang="en-US" dirty="0"/>
              <a:t>Use of visual mapping to scaffold understanding</a:t>
            </a:r>
          </a:p>
          <a:p>
            <a:r>
              <a:rPr lang="en-US" dirty="0"/>
              <a:t>Collaboration guidelines to support negotiation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470E1-E916-9A96-90A4-13DB85843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91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group&#10;&#10;AI-generated content may be incorrect.">
            <a:extLst>
              <a:ext uri="{FF2B5EF4-FFF2-40B4-BE49-F238E27FC236}">
                <a16:creationId xmlns:a16="http://schemas.microsoft.com/office/drawing/2014/main" id="{00245A78-8183-01D9-DEE7-A02CDCA82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934" y="1303494"/>
            <a:ext cx="9963174" cy="425101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F120D-9989-39D0-0AEF-34158D73B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55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18CD2DAA-69CE-B70C-55F3-226419BDE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2584" y="1013254"/>
            <a:ext cx="9385649" cy="488091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836ACE-63CB-BEE9-B8FE-F8722D175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11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FC490-CFE4-6DBB-E79C-9FD180330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impacts &amp;refinements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6442A-B30F-CCF6-4A51-2FC5E09135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Impact Observed: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Students engaged actively in comparing and merging their understanding.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Groups with balanced preparation had richer conversations.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The structure supported deeper explanation of relationships between concepts.</a:t>
            </a:r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2CA4A-AA79-F2D1-FADF-A43D26D0B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4979" y="2228003"/>
            <a:ext cx="5422392" cy="3633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Design Reflection &amp; Iteration</a:t>
            </a:r>
            <a:endParaRPr lang="en-US" sz="2000" dirty="0"/>
          </a:p>
          <a:p>
            <a:r>
              <a:rPr lang="en-US" sz="2000" dirty="0"/>
              <a:t>Reduce pre-workload to avoid cognitive overload.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Provide guiding questions for negotiation (e.g., “Why connect these?”).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Add a short post-reflection to solidify understanding.</a:t>
            </a:r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21D7B7B-359B-5F84-4525-5D8726356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B4F320-A9D2-6D38-49F4-642B3E6AB7EC}"/>
              </a:ext>
            </a:extLst>
          </p:cNvPr>
          <p:cNvSpPr txBox="1"/>
          <p:nvPr/>
        </p:nvSpPr>
        <p:spPr>
          <a:xfrm>
            <a:off x="945106" y="6047897"/>
            <a:ext cx="10054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55555"/>
                </a:solidFill>
                <a:effectLst/>
                <a:latin typeface="Roboto" panose="020F0502020204030204" pitchFamily="34" charset="0"/>
                <a:hlinkClick r:id="rId2"/>
              </a:rPr>
              <a:t>https://members.aect.org/pdf/Proceedings/proceedings21/2021/21_10.pdf</a:t>
            </a:r>
            <a:r>
              <a:rPr lang="en-US" b="0" i="0" dirty="0">
                <a:solidFill>
                  <a:srgbClr val="555555"/>
                </a:solidFill>
                <a:effectLst/>
                <a:latin typeface="Roboto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855670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</TotalTime>
  <Words>245</Words>
  <Application>Microsoft Macintosh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Google Sans Text</vt:lpstr>
      <vt:lpstr>Arial</vt:lpstr>
      <vt:lpstr>Gill Sans MT</vt:lpstr>
      <vt:lpstr>Roboto</vt:lpstr>
      <vt:lpstr>Wingdings 2</vt:lpstr>
      <vt:lpstr>Dividend</vt:lpstr>
      <vt:lpstr>1. Sensemaking with Concept Mapping</vt:lpstr>
      <vt:lpstr>Course Context &amp; Design Problem</vt:lpstr>
      <vt:lpstr>Instructional Design Solution: a two-step concept mapping task </vt:lpstr>
      <vt:lpstr>PowerPoint Presentation</vt:lpstr>
      <vt:lpstr>PowerPoint Presentation</vt:lpstr>
      <vt:lpstr>impacts &amp;refinements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Lee, Minkyung</dc:creator>
  <cp:lastModifiedBy>Lee, Minkyung</cp:lastModifiedBy>
  <cp:revision>1</cp:revision>
  <dcterms:created xsi:type="dcterms:W3CDTF">2025-12-17T18:03:23Z</dcterms:created>
  <dcterms:modified xsi:type="dcterms:W3CDTF">2025-12-17T18:05:05Z</dcterms:modified>
</cp:coreProperties>
</file>