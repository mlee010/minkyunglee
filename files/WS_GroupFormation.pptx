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65" r:id="rId2"/>
    <p:sldId id="272" r:id="rId3"/>
    <p:sldId id="267" r:id="rId4"/>
    <p:sldId id="26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44"/>
  </p:normalViewPr>
  <p:slideViewPr>
    <p:cSldViewPr snapToGrid="0">
      <p:cViewPr varScale="1">
        <p:scale>
          <a:sx n="104" d="100"/>
          <a:sy n="104" d="100"/>
        </p:scale>
        <p:origin x="23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C22AB7-4F19-A244-84A4-C4805877468F}" type="doc">
      <dgm:prSet loTypeId="urn:microsoft.com/office/officeart/2008/layout/PictureAccent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B892CD-49ED-BB4E-9746-10676F987DD4}">
      <dgm:prSet/>
      <dgm:spPr/>
      <dgm:t>
        <a:bodyPr/>
        <a:lstStyle/>
        <a:p>
          <a:r>
            <a:rPr lang="en-US" b="1" dirty="0"/>
            <a:t>Roles Implemented</a:t>
          </a:r>
          <a:endParaRPr lang="en-US" dirty="0"/>
        </a:p>
      </dgm:t>
    </dgm:pt>
    <dgm:pt modelId="{CEA9FFA6-0700-CA4A-8FF5-A49E05D8E1D4}" type="parTrans" cxnId="{7D9F4678-8532-B64B-B4B1-7C2AD8009A9B}">
      <dgm:prSet/>
      <dgm:spPr/>
      <dgm:t>
        <a:bodyPr/>
        <a:lstStyle/>
        <a:p>
          <a:endParaRPr lang="en-US"/>
        </a:p>
      </dgm:t>
    </dgm:pt>
    <dgm:pt modelId="{E0FF1B5C-7E80-F849-BD36-5E79440A3602}" type="sibTrans" cxnId="{7D9F4678-8532-B64B-B4B1-7C2AD8009A9B}">
      <dgm:prSet/>
      <dgm:spPr/>
      <dgm:t>
        <a:bodyPr/>
        <a:lstStyle/>
        <a:p>
          <a:endParaRPr lang="en-US"/>
        </a:p>
      </dgm:t>
    </dgm:pt>
    <dgm:pt modelId="{D93EE5EE-4D95-AB45-99EF-F8A0C2946024}">
      <dgm:prSet custT="1"/>
      <dgm:spPr/>
      <dgm:t>
        <a:bodyPr/>
        <a:lstStyle/>
        <a:p>
          <a:r>
            <a:rPr lang="en-US" sz="1800" b="1" dirty="0"/>
            <a:t>Moderator</a:t>
          </a:r>
          <a:r>
            <a:rPr lang="en-US" sz="1800" dirty="0"/>
            <a:t> – supports interaction flow and coordination</a:t>
          </a:r>
        </a:p>
      </dgm:t>
    </dgm:pt>
    <dgm:pt modelId="{BB853071-3DFD-5047-ABE7-BAB96B643563}" type="parTrans" cxnId="{D3FAAD21-3C4D-EA43-B37B-A15A11909043}">
      <dgm:prSet/>
      <dgm:spPr/>
      <dgm:t>
        <a:bodyPr/>
        <a:lstStyle/>
        <a:p>
          <a:endParaRPr lang="en-US"/>
        </a:p>
      </dgm:t>
    </dgm:pt>
    <dgm:pt modelId="{CB5DE867-18B5-0140-B32F-9C72735A940B}" type="sibTrans" cxnId="{D3FAAD21-3C4D-EA43-B37B-A15A11909043}">
      <dgm:prSet/>
      <dgm:spPr/>
      <dgm:t>
        <a:bodyPr/>
        <a:lstStyle/>
        <a:p>
          <a:endParaRPr lang="en-US"/>
        </a:p>
      </dgm:t>
    </dgm:pt>
    <dgm:pt modelId="{C03FE658-B31C-9148-95F1-C2D16569C98C}">
      <dgm:prSet custT="1"/>
      <dgm:spPr/>
      <dgm:t>
        <a:bodyPr/>
        <a:lstStyle/>
        <a:p>
          <a:r>
            <a:rPr lang="en-US" sz="1800" b="1" dirty="0"/>
            <a:t>Summarizer</a:t>
          </a:r>
          <a:r>
            <a:rPr lang="en-US" sz="1800" dirty="0"/>
            <a:t> – integrates ideas across posts</a:t>
          </a:r>
        </a:p>
      </dgm:t>
    </dgm:pt>
    <dgm:pt modelId="{A4B19596-47E8-934B-B3BB-2E00C92D786A}" type="parTrans" cxnId="{0D4D8197-9A91-8447-B7EC-B406C3042E43}">
      <dgm:prSet/>
      <dgm:spPr/>
      <dgm:t>
        <a:bodyPr/>
        <a:lstStyle/>
        <a:p>
          <a:endParaRPr lang="en-US"/>
        </a:p>
      </dgm:t>
    </dgm:pt>
    <dgm:pt modelId="{DF76490F-96CB-2640-B63E-DF50A09A5E26}" type="sibTrans" cxnId="{0D4D8197-9A91-8447-B7EC-B406C3042E43}">
      <dgm:prSet/>
      <dgm:spPr/>
      <dgm:t>
        <a:bodyPr/>
        <a:lstStyle/>
        <a:p>
          <a:endParaRPr lang="en-US"/>
        </a:p>
      </dgm:t>
    </dgm:pt>
    <dgm:pt modelId="{DE74E39A-3A33-BE41-9892-25B6B4EAD137}">
      <dgm:prSet custT="1"/>
      <dgm:spPr/>
      <dgm:t>
        <a:bodyPr/>
        <a:lstStyle/>
        <a:p>
          <a:r>
            <a:rPr lang="en-US" sz="1800" b="1" dirty="0"/>
            <a:t>Skeptic</a:t>
          </a:r>
          <a:r>
            <a:rPr lang="en-US" sz="1800" dirty="0"/>
            <a:t> – challenges assumptions and raises counterpoints</a:t>
          </a:r>
        </a:p>
      </dgm:t>
    </dgm:pt>
    <dgm:pt modelId="{1CC8A738-C2AA-0C4D-AC25-7E7A120DCE6E}" type="parTrans" cxnId="{75C84B55-FC68-EB48-9B4E-7C3879E7E62A}">
      <dgm:prSet/>
      <dgm:spPr/>
      <dgm:t>
        <a:bodyPr/>
        <a:lstStyle/>
        <a:p>
          <a:endParaRPr lang="en-US"/>
        </a:p>
      </dgm:t>
    </dgm:pt>
    <dgm:pt modelId="{23A5540B-6189-7343-A7E3-4CF62030BF21}" type="sibTrans" cxnId="{75C84B55-FC68-EB48-9B4E-7C3879E7E62A}">
      <dgm:prSet/>
      <dgm:spPr/>
      <dgm:t>
        <a:bodyPr/>
        <a:lstStyle/>
        <a:p>
          <a:endParaRPr lang="en-US"/>
        </a:p>
      </dgm:t>
    </dgm:pt>
    <dgm:pt modelId="{AD5B2589-D498-5443-B2D6-31FEE403D1B8}">
      <dgm:prSet custT="1"/>
      <dgm:spPr/>
      <dgm:t>
        <a:bodyPr/>
        <a:lstStyle/>
        <a:p>
          <a:r>
            <a:rPr lang="en-US" sz="1800" b="1" dirty="0"/>
            <a:t>Source Searcher</a:t>
          </a:r>
          <a:r>
            <a:rPr lang="en-US" sz="1800" dirty="0"/>
            <a:t> – introduces external information and evidence</a:t>
          </a:r>
        </a:p>
      </dgm:t>
    </dgm:pt>
    <dgm:pt modelId="{DE2E844E-718F-8540-97E1-0FE0C45BAB67}" type="parTrans" cxnId="{07E93B2E-F81C-3F4B-AA8B-616DCBE7CFE7}">
      <dgm:prSet/>
      <dgm:spPr/>
      <dgm:t>
        <a:bodyPr/>
        <a:lstStyle/>
        <a:p>
          <a:endParaRPr lang="en-US"/>
        </a:p>
      </dgm:t>
    </dgm:pt>
    <dgm:pt modelId="{92A32148-E273-FF4D-AB29-49AC65A9E88E}" type="sibTrans" cxnId="{07E93B2E-F81C-3F4B-AA8B-616DCBE7CFE7}">
      <dgm:prSet/>
      <dgm:spPr/>
      <dgm:t>
        <a:bodyPr/>
        <a:lstStyle/>
        <a:p>
          <a:endParaRPr lang="en-US"/>
        </a:p>
      </dgm:t>
    </dgm:pt>
    <dgm:pt modelId="{9DC49835-8961-3B46-B498-30E2252F4CF2}">
      <dgm:prSet custT="1"/>
      <dgm:spPr/>
      <dgm:t>
        <a:bodyPr/>
        <a:lstStyle/>
        <a:p>
          <a:r>
            <a:rPr lang="en-US" sz="1800" b="1" dirty="0"/>
            <a:t>Theoretician</a:t>
          </a:r>
          <a:r>
            <a:rPr lang="en-US" sz="1800" dirty="0"/>
            <a:t> – connects ideas to conceptual or theoretical principles</a:t>
          </a:r>
        </a:p>
      </dgm:t>
    </dgm:pt>
    <dgm:pt modelId="{8E0AA3EE-CC08-6F48-906F-38FF6971A8C7}" type="parTrans" cxnId="{D084E506-531D-DC4C-B779-30D99A294500}">
      <dgm:prSet/>
      <dgm:spPr/>
      <dgm:t>
        <a:bodyPr/>
        <a:lstStyle/>
        <a:p>
          <a:endParaRPr lang="en-US"/>
        </a:p>
      </dgm:t>
    </dgm:pt>
    <dgm:pt modelId="{1731B9BA-003C-5A4D-A1CE-2ACF9BAF4BD1}" type="sibTrans" cxnId="{D084E506-531D-DC4C-B779-30D99A294500}">
      <dgm:prSet/>
      <dgm:spPr/>
      <dgm:t>
        <a:bodyPr/>
        <a:lstStyle/>
        <a:p>
          <a:endParaRPr lang="en-US"/>
        </a:p>
      </dgm:t>
    </dgm:pt>
    <dgm:pt modelId="{F606FEC0-EAE7-344E-B9CE-05D4D90A36F2}" type="pres">
      <dgm:prSet presAssocID="{13C22AB7-4F19-A244-84A4-C4805877468F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22C296B6-A1C7-7445-9486-BD23732E18DB}" type="pres">
      <dgm:prSet presAssocID="{25B892CD-49ED-BB4E-9746-10676F987DD4}" presName="root" presStyleCnt="0">
        <dgm:presLayoutVars>
          <dgm:chMax/>
          <dgm:chPref val="4"/>
        </dgm:presLayoutVars>
      </dgm:prSet>
      <dgm:spPr/>
    </dgm:pt>
    <dgm:pt modelId="{57041140-D314-7042-B67E-C1CD63A72C2F}" type="pres">
      <dgm:prSet presAssocID="{25B892CD-49ED-BB4E-9746-10676F987DD4}" presName="rootComposite" presStyleCnt="0">
        <dgm:presLayoutVars/>
      </dgm:prSet>
      <dgm:spPr/>
    </dgm:pt>
    <dgm:pt modelId="{E9980509-63EC-9546-B4B3-12796A580C4B}" type="pres">
      <dgm:prSet presAssocID="{25B892CD-49ED-BB4E-9746-10676F987DD4}" presName="rootText" presStyleLbl="node0" presStyleIdx="0" presStyleCnt="1" custScaleY="56456">
        <dgm:presLayoutVars>
          <dgm:chMax/>
          <dgm:chPref val="4"/>
        </dgm:presLayoutVars>
      </dgm:prSet>
      <dgm:spPr/>
    </dgm:pt>
    <dgm:pt modelId="{FF71DA20-4F29-6041-8B97-18E6F14E20FD}" type="pres">
      <dgm:prSet presAssocID="{25B892CD-49ED-BB4E-9746-10676F987DD4}" presName="childShape" presStyleCnt="0">
        <dgm:presLayoutVars>
          <dgm:chMax val="0"/>
          <dgm:chPref val="0"/>
        </dgm:presLayoutVars>
      </dgm:prSet>
      <dgm:spPr/>
    </dgm:pt>
    <dgm:pt modelId="{BB2D7ACF-095E-F046-AAA2-6738BAD036BB}" type="pres">
      <dgm:prSet presAssocID="{D93EE5EE-4D95-AB45-99EF-F8A0C2946024}" presName="childComposite" presStyleCnt="0">
        <dgm:presLayoutVars>
          <dgm:chMax val="0"/>
          <dgm:chPref val="0"/>
        </dgm:presLayoutVars>
      </dgm:prSet>
      <dgm:spPr/>
    </dgm:pt>
    <dgm:pt modelId="{D6A23743-41B1-0C4A-ACFB-01041657A4C7}" type="pres">
      <dgm:prSet presAssocID="{D93EE5EE-4D95-AB45-99EF-F8A0C2946024}" presName="Image" presStyleLbl="node1" presStyleIdx="0" presStyleCnt="5"/>
      <dgm:spPr/>
    </dgm:pt>
    <dgm:pt modelId="{542BF014-30BD-B340-99F9-88E76875FEF4}" type="pres">
      <dgm:prSet presAssocID="{D93EE5EE-4D95-AB45-99EF-F8A0C2946024}" presName="childText" presStyleLbl="lnNode1" presStyleIdx="0" presStyleCnt="5" custScaleX="205598">
        <dgm:presLayoutVars>
          <dgm:chMax val="0"/>
          <dgm:chPref val="0"/>
          <dgm:bulletEnabled val="1"/>
        </dgm:presLayoutVars>
      </dgm:prSet>
      <dgm:spPr/>
    </dgm:pt>
    <dgm:pt modelId="{098B9C17-61E8-8441-9A0F-6D0636077387}" type="pres">
      <dgm:prSet presAssocID="{C03FE658-B31C-9148-95F1-C2D16569C98C}" presName="childComposite" presStyleCnt="0">
        <dgm:presLayoutVars>
          <dgm:chMax val="0"/>
          <dgm:chPref val="0"/>
        </dgm:presLayoutVars>
      </dgm:prSet>
      <dgm:spPr/>
    </dgm:pt>
    <dgm:pt modelId="{0F330EA0-33A7-2349-8470-922B9E794C88}" type="pres">
      <dgm:prSet presAssocID="{C03FE658-B31C-9148-95F1-C2D16569C98C}" presName="Image" presStyleLbl="node1" presStyleIdx="1" presStyleCnt="5"/>
      <dgm:spPr/>
    </dgm:pt>
    <dgm:pt modelId="{FE6834C2-07B8-0E4D-AF6B-C427A7D88706}" type="pres">
      <dgm:prSet presAssocID="{C03FE658-B31C-9148-95F1-C2D16569C98C}" presName="childText" presStyleLbl="lnNode1" presStyleIdx="1" presStyleCnt="5" custScaleX="205598">
        <dgm:presLayoutVars>
          <dgm:chMax val="0"/>
          <dgm:chPref val="0"/>
          <dgm:bulletEnabled val="1"/>
        </dgm:presLayoutVars>
      </dgm:prSet>
      <dgm:spPr/>
    </dgm:pt>
    <dgm:pt modelId="{15E04849-E3F0-AA40-A78E-E2973A003CA1}" type="pres">
      <dgm:prSet presAssocID="{DE74E39A-3A33-BE41-9892-25B6B4EAD137}" presName="childComposite" presStyleCnt="0">
        <dgm:presLayoutVars>
          <dgm:chMax val="0"/>
          <dgm:chPref val="0"/>
        </dgm:presLayoutVars>
      </dgm:prSet>
      <dgm:spPr/>
    </dgm:pt>
    <dgm:pt modelId="{525A3B94-6A56-7447-A34A-B8327FDE23C3}" type="pres">
      <dgm:prSet presAssocID="{DE74E39A-3A33-BE41-9892-25B6B4EAD137}" presName="Image" presStyleLbl="node1" presStyleIdx="2" presStyleCnt="5"/>
      <dgm:spPr/>
    </dgm:pt>
    <dgm:pt modelId="{76C3F86C-6F3D-2E42-A99F-73F7988DE9DF}" type="pres">
      <dgm:prSet presAssocID="{DE74E39A-3A33-BE41-9892-25B6B4EAD137}" presName="childText" presStyleLbl="lnNode1" presStyleIdx="2" presStyleCnt="5" custScaleX="205598">
        <dgm:presLayoutVars>
          <dgm:chMax val="0"/>
          <dgm:chPref val="0"/>
          <dgm:bulletEnabled val="1"/>
        </dgm:presLayoutVars>
      </dgm:prSet>
      <dgm:spPr/>
    </dgm:pt>
    <dgm:pt modelId="{58848B6D-014A-FC4B-9A00-42BB1AB0552B}" type="pres">
      <dgm:prSet presAssocID="{AD5B2589-D498-5443-B2D6-31FEE403D1B8}" presName="childComposite" presStyleCnt="0">
        <dgm:presLayoutVars>
          <dgm:chMax val="0"/>
          <dgm:chPref val="0"/>
        </dgm:presLayoutVars>
      </dgm:prSet>
      <dgm:spPr/>
    </dgm:pt>
    <dgm:pt modelId="{FB9DF8B3-0730-AB46-9441-8C09A90C0A00}" type="pres">
      <dgm:prSet presAssocID="{AD5B2589-D498-5443-B2D6-31FEE403D1B8}" presName="Image" presStyleLbl="node1" presStyleIdx="3" presStyleCnt="5"/>
      <dgm:spPr/>
    </dgm:pt>
    <dgm:pt modelId="{851E9AF0-9F1B-6C46-9539-701D1367E2D4}" type="pres">
      <dgm:prSet presAssocID="{AD5B2589-D498-5443-B2D6-31FEE403D1B8}" presName="childText" presStyleLbl="lnNode1" presStyleIdx="3" presStyleCnt="5" custScaleX="205598">
        <dgm:presLayoutVars>
          <dgm:chMax val="0"/>
          <dgm:chPref val="0"/>
          <dgm:bulletEnabled val="1"/>
        </dgm:presLayoutVars>
      </dgm:prSet>
      <dgm:spPr/>
    </dgm:pt>
    <dgm:pt modelId="{8E2F73EA-9587-DE48-B287-4078E1772BDF}" type="pres">
      <dgm:prSet presAssocID="{9DC49835-8961-3B46-B498-30E2252F4CF2}" presName="childComposite" presStyleCnt="0">
        <dgm:presLayoutVars>
          <dgm:chMax val="0"/>
          <dgm:chPref val="0"/>
        </dgm:presLayoutVars>
      </dgm:prSet>
      <dgm:spPr/>
    </dgm:pt>
    <dgm:pt modelId="{12972BEE-599E-954E-AD5D-27002075465D}" type="pres">
      <dgm:prSet presAssocID="{9DC49835-8961-3B46-B498-30E2252F4CF2}" presName="Image" presStyleLbl="node1" presStyleIdx="4" presStyleCnt="5"/>
      <dgm:spPr/>
    </dgm:pt>
    <dgm:pt modelId="{7C78D000-9BC7-0541-9EFA-EFC90685AE23}" type="pres">
      <dgm:prSet presAssocID="{9DC49835-8961-3B46-B498-30E2252F4CF2}" presName="childText" presStyleLbl="lnNode1" presStyleIdx="4" presStyleCnt="5" custScaleX="205598">
        <dgm:presLayoutVars>
          <dgm:chMax val="0"/>
          <dgm:chPref val="0"/>
          <dgm:bulletEnabled val="1"/>
        </dgm:presLayoutVars>
      </dgm:prSet>
      <dgm:spPr/>
    </dgm:pt>
  </dgm:ptLst>
  <dgm:cxnLst>
    <dgm:cxn modelId="{D084E506-531D-DC4C-B779-30D99A294500}" srcId="{25B892CD-49ED-BB4E-9746-10676F987DD4}" destId="{9DC49835-8961-3B46-B498-30E2252F4CF2}" srcOrd="4" destOrd="0" parTransId="{8E0AA3EE-CC08-6F48-906F-38FF6971A8C7}" sibTransId="{1731B9BA-003C-5A4D-A1CE-2ACF9BAF4BD1}"/>
    <dgm:cxn modelId="{9FA41114-0CB9-3948-956F-0A3148C6C701}" type="presOf" srcId="{13C22AB7-4F19-A244-84A4-C4805877468F}" destId="{F606FEC0-EAE7-344E-B9CE-05D4D90A36F2}" srcOrd="0" destOrd="0" presId="urn:microsoft.com/office/officeart/2008/layout/PictureAccentList"/>
    <dgm:cxn modelId="{D3FAAD21-3C4D-EA43-B37B-A15A11909043}" srcId="{25B892CD-49ED-BB4E-9746-10676F987DD4}" destId="{D93EE5EE-4D95-AB45-99EF-F8A0C2946024}" srcOrd="0" destOrd="0" parTransId="{BB853071-3DFD-5047-ABE7-BAB96B643563}" sibTransId="{CB5DE867-18B5-0140-B32F-9C72735A940B}"/>
    <dgm:cxn modelId="{CCBDC625-11B4-3148-A802-61946A74BBC2}" type="presOf" srcId="{25B892CD-49ED-BB4E-9746-10676F987DD4}" destId="{E9980509-63EC-9546-B4B3-12796A580C4B}" srcOrd="0" destOrd="0" presId="urn:microsoft.com/office/officeart/2008/layout/PictureAccentList"/>
    <dgm:cxn modelId="{07E93B2E-F81C-3F4B-AA8B-616DCBE7CFE7}" srcId="{25B892CD-49ED-BB4E-9746-10676F987DD4}" destId="{AD5B2589-D498-5443-B2D6-31FEE403D1B8}" srcOrd="3" destOrd="0" parTransId="{DE2E844E-718F-8540-97E1-0FE0C45BAB67}" sibTransId="{92A32148-E273-FF4D-AB29-49AC65A9E88E}"/>
    <dgm:cxn modelId="{75C84B55-FC68-EB48-9B4E-7C3879E7E62A}" srcId="{25B892CD-49ED-BB4E-9746-10676F987DD4}" destId="{DE74E39A-3A33-BE41-9892-25B6B4EAD137}" srcOrd="2" destOrd="0" parTransId="{1CC8A738-C2AA-0C4D-AC25-7E7A120DCE6E}" sibTransId="{23A5540B-6189-7343-A7E3-4CF62030BF21}"/>
    <dgm:cxn modelId="{7D9F4678-8532-B64B-B4B1-7C2AD8009A9B}" srcId="{13C22AB7-4F19-A244-84A4-C4805877468F}" destId="{25B892CD-49ED-BB4E-9746-10676F987DD4}" srcOrd="0" destOrd="0" parTransId="{CEA9FFA6-0700-CA4A-8FF5-A49E05D8E1D4}" sibTransId="{E0FF1B5C-7E80-F849-BD36-5E79440A3602}"/>
    <dgm:cxn modelId="{0D4D8197-9A91-8447-B7EC-B406C3042E43}" srcId="{25B892CD-49ED-BB4E-9746-10676F987DD4}" destId="{C03FE658-B31C-9148-95F1-C2D16569C98C}" srcOrd="1" destOrd="0" parTransId="{A4B19596-47E8-934B-B3BB-2E00C92D786A}" sibTransId="{DF76490F-96CB-2640-B63E-DF50A09A5E26}"/>
    <dgm:cxn modelId="{3B72349F-1044-8F4D-A0A1-B92190B5E4AF}" type="presOf" srcId="{C03FE658-B31C-9148-95F1-C2D16569C98C}" destId="{FE6834C2-07B8-0E4D-AF6B-C427A7D88706}" srcOrd="0" destOrd="0" presId="urn:microsoft.com/office/officeart/2008/layout/PictureAccentList"/>
    <dgm:cxn modelId="{337B32AE-1E2F-AF47-95A8-536A30DBF36D}" type="presOf" srcId="{AD5B2589-D498-5443-B2D6-31FEE403D1B8}" destId="{851E9AF0-9F1B-6C46-9539-701D1367E2D4}" srcOrd="0" destOrd="0" presId="urn:microsoft.com/office/officeart/2008/layout/PictureAccentList"/>
    <dgm:cxn modelId="{6EF155B2-2DEB-4946-BBBE-344C4C793696}" type="presOf" srcId="{DE74E39A-3A33-BE41-9892-25B6B4EAD137}" destId="{76C3F86C-6F3D-2E42-A99F-73F7988DE9DF}" srcOrd="0" destOrd="0" presId="urn:microsoft.com/office/officeart/2008/layout/PictureAccentList"/>
    <dgm:cxn modelId="{F16767C3-D194-1649-AC18-1B64F1BE062B}" type="presOf" srcId="{D93EE5EE-4D95-AB45-99EF-F8A0C2946024}" destId="{542BF014-30BD-B340-99F9-88E76875FEF4}" srcOrd="0" destOrd="0" presId="urn:microsoft.com/office/officeart/2008/layout/PictureAccentList"/>
    <dgm:cxn modelId="{E2FD03F0-45ED-7D43-B268-0746D4DC6654}" type="presOf" srcId="{9DC49835-8961-3B46-B498-30E2252F4CF2}" destId="{7C78D000-9BC7-0541-9EFA-EFC90685AE23}" srcOrd="0" destOrd="0" presId="urn:microsoft.com/office/officeart/2008/layout/PictureAccentList"/>
    <dgm:cxn modelId="{95FC9C5D-EFE3-0F46-855D-C1E2C09792E6}" type="presParOf" srcId="{F606FEC0-EAE7-344E-B9CE-05D4D90A36F2}" destId="{22C296B6-A1C7-7445-9486-BD23732E18DB}" srcOrd="0" destOrd="0" presId="urn:microsoft.com/office/officeart/2008/layout/PictureAccentList"/>
    <dgm:cxn modelId="{7F3CB651-CE78-414F-9E2C-724971E53660}" type="presParOf" srcId="{22C296B6-A1C7-7445-9486-BD23732E18DB}" destId="{57041140-D314-7042-B67E-C1CD63A72C2F}" srcOrd="0" destOrd="0" presId="urn:microsoft.com/office/officeart/2008/layout/PictureAccentList"/>
    <dgm:cxn modelId="{C4087AC5-1E48-FB4E-9C7F-776D4788D076}" type="presParOf" srcId="{57041140-D314-7042-B67E-C1CD63A72C2F}" destId="{E9980509-63EC-9546-B4B3-12796A580C4B}" srcOrd="0" destOrd="0" presId="urn:microsoft.com/office/officeart/2008/layout/PictureAccentList"/>
    <dgm:cxn modelId="{7C959334-93F2-7C47-AD05-4FD4A6A124E0}" type="presParOf" srcId="{22C296B6-A1C7-7445-9486-BD23732E18DB}" destId="{FF71DA20-4F29-6041-8B97-18E6F14E20FD}" srcOrd="1" destOrd="0" presId="urn:microsoft.com/office/officeart/2008/layout/PictureAccentList"/>
    <dgm:cxn modelId="{3F5DCEA9-FA58-B549-8208-FBD9449A36B4}" type="presParOf" srcId="{FF71DA20-4F29-6041-8B97-18E6F14E20FD}" destId="{BB2D7ACF-095E-F046-AAA2-6738BAD036BB}" srcOrd="0" destOrd="0" presId="urn:microsoft.com/office/officeart/2008/layout/PictureAccentList"/>
    <dgm:cxn modelId="{AB4037A8-E933-584F-A70C-B65D2696034C}" type="presParOf" srcId="{BB2D7ACF-095E-F046-AAA2-6738BAD036BB}" destId="{D6A23743-41B1-0C4A-ACFB-01041657A4C7}" srcOrd="0" destOrd="0" presId="urn:microsoft.com/office/officeart/2008/layout/PictureAccentList"/>
    <dgm:cxn modelId="{2664BD94-C377-2F4C-97A4-8DBAF0450DA7}" type="presParOf" srcId="{BB2D7ACF-095E-F046-AAA2-6738BAD036BB}" destId="{542BF014-30BD-B340-99F9-88E76875FEF4}" srcOrd="1" destOrd="0" presId="urn:microsoft.com/office/officeart/2008/layout/PictureAccentList"/>
    <dgm:cxn modelId="{BE32B46E-0C59-064C-AB3A-9DE94E226BBF}" type="presParOf" srcId="{FF71DA20-4F29-6041-8B97-18E6F14E20FD}" destId="{098B9C17-61E8-8441-9A0F-6D0636077387}" srcOrd="1" destOrd="0" presId="urn:microsoft.com/office/officeart/2008/layout/PictureAccentList"/>
    <dgm:cxn modelId="{5E3D0D81-8A4A-104D-B8CB-FCCDCFBE6EF1}" type="presParOf" srcId="{098B9C17-61E8-8441-9A0F-6D0636077387}" destId="{0F330EA0-33A7-2349-8470-922B9E794C88}" srcOrd="0" destOrd="0" presId="urn:microsoft.com/office/officeart/2008/layout/PictureAccentList"/>
    <dgm:cxn modelId="{066CDF48-419F-1040-827F-02FC45FB4A2D}" type="presParOf" srcId="{098B9C17-61E8-8441-9A0F-6D0636077387}" destId="{FE6834C2-07B8-0E4D-AF6B-C427A7D88706}" srcOrd="1" destOrd="0" presId="urn:microsoft.com/office/officeart/2008/layout/PictureAccentList"/>
    <dgm:cxn modelId="{59957BB9-6B75-BD40-AE84-F29FB7B88986}" type="presParOf" srcId="{FF71DA20-4F29-6041-8B97-18E6F14E20FD}" destId="{15E04849-E3F0-AA40-A78E-E2973A003CA1}" srcOrd="2" destOrd="0" presId="urn:microsoft.com/office/officeart/2008/layout/PictureAccentList"/>
    <dgm:cxn modelId="{6A538E60-C46D-CC40-AD75-916E2C8A1EC2}" type="presParOf" srcId="{15E04849-E3F0-AA40-A78E-E2973A003CA1}" destId="{525A3B94-6A56-7447-A34A-B8327FDE23C3}" srcOrd="0" destOrd="0" presId="urn:microsoft.com/office/officeart/2008/layout/PictureAccentList"/>
    <dgm:cxn modelId="{66CBA20D-93C3-AF4D-982D-3E0C6DDD5322}" type="presParOf" srcId="{15E04849-E3F0-AA40-A78E-E2973A003CA1}" destId="{76C3F86C-6F3D-2E42-A99F-73F7988DE9DF}" srcOrd="1" destOrd="0" presId="urn:microsoft.com/office/officeart/2008/layout/PictureAccentList"/>
    <dgm:cxn modelId="{AA789B4F-AE00-3241-8FB3-D9134A1E6CA1}" type="presParOf" srcId="{FF71DA20-4F29-6041-8B97-18E6F14E20FD}" destId="{58848B6D-014A-FC4B-9A00-42BB1AB0552B}" srcOrd="3" destOrd="0" presId="urn:microsoft.com/office/officeart/2008/layout/PictureAccentList"/>
    <dgm:cxn modelId="{C45E4C1C-E630-8445-B7A6-D80142112723}" type="presParOf" srcId="{58848B6D-014A-FC4B-9A00-42BB1AB0552B}" destId="{FB9DF8B3-0730-AB46-9441-8C09A90C0A00}" srcOrd="0" destOrd="0" presId="urn:microsoft.com/office/officeart/2008/layout/PictureAccentList"/>
    <dgm:cxn modelId="{42071EC3-E766-FF4B-AC95-4CE5A4364D85}" type="presParOf" srcId="{58848B6D-014A-FC4B-9A00-42BB1AB0552B}" destId="{851E9AF0-9F1B-6C46-9539-701D1367E2D4}" srcOrd="1" destOrd="0" presId="urn:microsoft.com/office/officeart/2008/layout/PictureAccentList"/>
    <dgm:cxn modelId="{3E834066-866E-5149-B010-AC8223569597}" type="presParOf" srcId="{FF71DA20-4F29-6041-8B97-18E6F14E20FD}" destId="{8E2F73EA-9587-DE48-B287-4078E1772BDF}" srcOrd="4" destOrd="0" presId="urn:microsoft.com/office/officeart/2008/layout/PictureAccentList"/>
    <dgm:cxn modelId="{8E48E49E-17D8-AF46-B069-05223CA6A7BA}" type="presParOf" srcId="{8E2F73EA-9587-DE48-B287-4078E1772BDF}" destId="{12972BEE-599E-954E-AD5D-27002075465D}" srcOrd="0" destOrd="0" presId="urn:microsoft.com/office/officeart/2008/layout/PictureAccentList"/>
    <dgm:cxn modelId="{798C63C7-C6BC-2642-BB12-07662F12402E}" type="presParOf" srcId="{8E2F73EA-9587-DE48-B287-4078E1772BDF}" destId="{7C78D000-9BC7-0541-9EFA-EFC90685AE2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980509-63EC-9546-B4B3-12796A580C4B}">
      <dsp:nvSpPr>
        <dsp:cNvPr id="0" name=""/>
        <dsp:cNvSpPr/>
      </dsp:nvSpPr>
      <dsp:spPr>
        <a:xfrm>
          <a:off x="1109470" y="146443"/>
          <a:ext cx="3203959" cy="3030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Roles Implemented</a:t>
          </a:r>
          <a:endParaRPr lang="en-US" sz="1800" kern="1200" dirty="0"/>
        </a:p>
      </dsp:txBody>
      <dsp:txXfrm>
        <a:off x="1118345" y="155318"/>
        <a:ext cx="3186209" cy="285265"/>
      </dsp:txXfrm>
    </dsp:sp>
    <dsp:sp modelId="{D6A23743-41B1-0C4A-ACFB-01041657A4C7}">
      <dsp:nvSpPr>
        <dsp:cNvPr id="0" name=""/>
        <dsp:cNvSpPr/>
      </dsp:nvSpPr>
      <dsp:spPr>
        <a:xfrm>
          <a:off x="825004" y="546070"/>
          <a:ext cx="536728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BF014-30BD-B340-99F9-88E76875FEF4}">
      <dsp:nvSpPr>
        <dsp:cNvPr id="0" name=""/>
        <dsp:cNvSpPr/>
      </dsp:nvSpPr>
      <dsp:spPr>
        <a:xfrm>
          <a:off x="2668" y="546070"/>
          <a:ext cx="5417562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Moderator</a:t>
          </a:r>
          <a:r>
            <a:rPr lang="en-US" sz="1800" kern="1200" dirty="0"/>
            <a:t> – supports interaction flow and coordination</a:t>
          </a:r>
        </a:p>
      </dsp:txBody>
      <dsp:txXfrm>
        <a:off x="28874" y="572276"/>
        <a:ext cx="5365150" cy="484316"/>
      </dsp:txXfrm>
    </dsp:sp>
    <dsp:sp modelId="{0F330EA0-33A7-2349-8470-922B9E794C88}">
      <dsp:nvSpPr>
        <dsp:cNvPr id="0" name=""/>
        <dsp:cNvSpPr/>
      </dsp:nvSpPr>
      <dsp:spPr>
        <a:xfrm>
          <a:off x="825004" y="1147206"/>
          <a:ext cx="536728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834C2-07B8-0E4D-AF6B-C427A7D88706}">
      <dsp:nvSpPr>
        <dsp:cNvPr id="0" name=""/>
        <dsp:cNvSpPr/>
      </dsp:nvSpPr>
      <dsp:spPr>
        <a:xfrm>
          <a:off x="2668" y="1147206"/>
          <a:ext cx="5417562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Summarizer</a:t>
          </a:r>
          <a:r>
            <a:rPr lang="en-US" sz="1800" kern="1200" dirty="0"/>
            <a:t> – integrates ideas across posts</a:t>
          </a:r>
        </a:p>
      </dsp:txBody>
      <dsp:txXfrm>
        <a:off x="28874" y="1173412"/>
        <a:ext cx="5365150" cy="484316"/>
      </dsp:txXfrm>
    </dsp:sp>
    <dsp:sp modelId="{525A3B94-6A56-7447-A34A-B8327FDE23C3}">
      <dsp:nvSpPr>
        <dsp:cNvPr id="0" name=""/>
        <dsp:cNvSpPr/>
      </dsp:nvSpPr>
      <dsp:spPr>
        <a:xfrm>
          <a:off x="825004" y="1748342"/>
          <a:ext cx="536728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C3F86C-6F3D-2E42-A99F-73F7988DE9DF}">
      <dsp:nvSpPr>
        <dsp:cNvPr id="0" name=""/>
        <dsp:cNvSpPr/>
      </dsp:nvSpPr>
      <dsp:spPr>
        <a:xfrm>
          <a:off x="2668" y="1748342"/>
          <a:ext cx="5417562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Skeptic</a:t>
          </a:r>
          <a:r>
            <a:rPr lang="en-US" sz="1800" kern="1200" dirty="0"/>
            <a:t> – challenges assumptions and raises counterpoints</a:t>
          </a:r>
        </a:p>
      </dsp:txBody>
      <dsp:txXfrm>
        <a:off x="28874" y="1774548"/>
        <a:ext cx="5365150" cy="484316"/>
      </dsp:txXfrm>
    </dsp:sp>
    <dsp:sp modelId="{FB9DF8B3-0730-AB46-9441-8C09A90C0A00}">
      <dsp:nvSpPr>
        <dsp:cNvPr id="0" name=""/>
        <dsp:cNvSpPr/>
      </dsp:nvSpPr>
      <dsp:spPr>
        <a:xfrm>
          <a:off x="825004" y="2349478"/>
          <a:ext cx="536728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E9AF0-9F1B-6C46-9539-701D1367E2D4}">
      <dsp:nvSpPr>
        <dsp:cNvPr id="0" name=""/>
        <dsp:cNvSpPr/>
      </dsp:nvSpPr>
      <dsp:spPr>
        <a:xfrm>
          <a:off x="2668" y="2349478"/>
          <a:ext cx="5417562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Source Searcher</a:t>
          </a:r>
          <a:r>
            <a:rPr lang="en-US" sz="1800" kern="1200" dirty="0"/>
            <a:t> – introduces external information and evidence</a:t>
          </a:r>
        </a:p>
      </dsp:txBody>
      <dsp:txXfrm>
        <a:off x="28874" y="2375684"/>
        <a:ext cx="5365150" cy="484316"/>
      </dsp:txXfrm>
    </dsp:sp>
    <dsp:sp modelId="{12972BEE-599E-954E-AD5D-27002075465D}">
      <dsp:nvSpPr>
        <dsp:cNvPr id="0" name=""/>
        <dsp:cNvSpPr/>
      </dsp:nvSpPr>
      <dsp:spPr>
        <a:xfrm>
          <a:off x="825004" y="2950614"/>
          <a:ext cx="536728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78D000-9BC7-0541-9EFA-EFC90685AE23}">
      <dsp:nvSpPr>
        <dsp:cNvPr id="0" name=""/>
        <dsp:cNvSpPr/>
      </dsp:nvSpPr>
      <dsp:spPr>
        <a:xfrm>
          <a:off x="2668" y="2950614"/>
          <a:ext cx="5417562" cy="536728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Theoretician</a:t>
          </a:r>
          <a:r>
            <a:rPr lang="en-US" sz="1800" kern="1200" dirty="0"/>
            <a:t> – connects ideas to conceptual or theoretical principles</a:t>
          </a:r>
        </a:p>
      </dsp:txBody>
      <dsp:txXfrm>
        <a:off x="28874" y="2976820"/>
        <a:ext cx="5365150" cy="484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4942FF4-7E8D-7E4B-B989-94C0449D8091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9D138-7992-1B47-8848-E05636067BB8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945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10CD0B-FB0C-924B-B280-7E471F727ED7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41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79EFD-5047-8245-BFBA-14ED1A2DAC40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965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EAD66-FE86-D445-B345-28B0ABC8DD09}" type="datetime1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41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3F919-47E7-964F-B581-4DDB7D818BFB}" type="datetime1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00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C0BB-611B-E54F-821A-42AD7FCC72C3}" type="datetime1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2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E15ACA2-1886-5445-9133-CC0CBCF31FB7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497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9AFB-66B1-EC43-AD03-36B0DC93C46D}" type="datetime1">
              <a:rPr lang="en-US" smtClean="0"/>
              <a:t>12/17/25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95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F53DC-C1EB-5F4C-AE37-4A3239687E47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71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7250507-5565-B646-9685-82BAA8D39565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12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5DCF9535-74CC-2D4D-B322-00ACC76EEF78}" type="datetime1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7741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451D7-9235-D3C6-20B2-4AC67749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EC7AA7E-81E8-4755-AC3D-2CE40312D0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188C2F-B457-4F86-B4B4-79703666D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191" y="457201"/>
            <a:ext cx="1106164" cy="585973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956FD-3E35-4658-9C8B-3A48FD2DB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419" y="457200"/>
            <a:ext cx="9961047" cy="3678072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FB6005-0800-06C8-0322-3F4E49A56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5278" y="668740"/>
            <a:ext cx="7574507" cy="3330055"/>
          </a:xfrm>
        </p:spPr>
        <p:txBody>
          <a:bodyPr anchor="t"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4000" b="1" dirty="0">
                <a:solidFill>
                  <a:srgbClr val="FFFFFF"/>
                </a:solidFill>
              </a:rPr>
              <a:t>3. Data-Informed Group Formation to Improve Seminar Collaboration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BC678D-D15E-4FC5-8CBF-5308E841A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4352" y="4244454"/>
            <a:ext cx="9961115" cy="207248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35D4F-E397-8508-2D42-26F5C177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917939" y="5704901"/>
            <a:ext cx="432674" cy="365125"/>
          </a:xfrm>
        </p:spPr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2324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739C-048C-1978-C7C9-10E9C0B49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Course Context &amp; Design Problem</a:t>
            </a:r>
            <a:endParaRPr lang="en-US" b="1" dirty="0">
              <a:solidFill>
                <a:srgbClr val="FFFE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4E6022-FF23-FF1C-DF64-AB4E8A25BD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5617" y="2549714"/>
          <a:ext cx="9152683" cy="3065908"/>
        </p:xfrm>
        <a:graphic>
          <a:graphicData uri="http://schemas.openxmlformats.org/drawingml/2006/table">
            <a:tbl>
              <a:tblPr firstCol="1">
                <a:tableStyleId>{21E4AEA4-8DFA-4A89-87EB-49C32662AFE0}</a:tableStyleId>
              </a:tblPr>
              <a:tblGrid>
                <a:gridCol w="2492784">
                  <a:extLst>
                    <a:ext uri="{9D8B030D-6E8A-4147-A177-3AD203B41FA5}">
                      <a16:colId xmlns:a16="http://schemas.microsoft.com/office/drawing/2014/main" val="583110515"/>
                    </a:ext>
                  </a:extLst>
                </a:gridCol>
                <a:gridCol w="6659899">
                  <a:extLst>
                    <a:ext uri="{9D8B030D-6E8A-4147-A177-3AD203B41FA5}">
                      <a16:colId xmlns:a16="http://schemas.microsoft.com/office/drawing/2014/main" val="1778132350"/>
                    </a:ext>
                  </a:extLst>
                </a:gridCol>
              </a:tblGrid>
              <a:tr h="65201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Context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Fully online, asynchronous undergraduate Information Systems course (team-based project).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/>
                </a:tc>
                <a:extLst>
                  <a:ext uri="{0D108BD9-81ED-4DB2-BD59-A6C34878D82A}">
                    <a16:rowId xmlns:a16="http://schemas.microsoft.com/office/drawing/2014/main" val="1752575613"/>
                  </a:ext>
                </a:extLst>
              </a:tr>
              <a:tr h="652013">
                <a:tc>
                  <a:txBody>
                    <a:bodyPr/>
                    <a:lstStyle/>
                    <a:p>
                      <a:pPr rtl="0"/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Design Problem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92351" marR="92351" marT="61567" marB="8769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Teams contributed unevenly and relied on surface-level agreement in online discussions.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/>
                </a:tc>
                <a:extLst>
                  <a:ext uri="{0D108BD9-81ED-4DB2-BD59-A6C34878D82A}">
                    <a16:rowId xmlns:a16="http://schemas.microsoft.com/office/drawing/2014/main" val="3189747740"/>
                  </a:ext>
                </a:extLst>
              </a:tr>
              <a:tr h="65201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Instructional Solution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Explicitly assigned roles (Moderator, Skeptic, Summarizer, etc.) within teams to carry distinct interactional responsibilities.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/>
                </a:tc>
                <a:extLst>
                  <a:ext uri="{0D108BD9-81ED-4DB2-BD59-A6C34878D82A}">
                    <a16:rowId xmlns:a16="http://schemas.microsoft.com/office/drawing/2014/main" val="127149292"/>
                  </a:ext>
                </a:extLst>
              </a:tr>
              <a:tr h="88585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Key Impact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800" b="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Teams with assigned roles showed more distributed participation and clearer patterns of synthesis and critique. The roles served as lightweight scaffolds for team analysis.</a:t>
                      </a:r>
                      <a:endParaRPr lang="en-US" sz="18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2351" marR="92351" marT="61567" marB="87690" anchor="ctr"/>
                </a:tc>
                <a:extLst>
                  <a:ext uri="{0D108BD9-81ED-4DB2-BD59-A6C34878D82A}">
                    <a16:rowId xmlns:a16="http://schemas.microsoft.com/office/drawing/2014/main" val="1343968597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DBDC3-BF57-24FA-1668-4ED89D94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669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889A0-D677-4A3D-36C6-418225DF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17" y="996950"/>
            <a:ext cx="11029616" cy="988332"/>
          </a:xfrm>
        </p:spPr>
        <p:txBody>
          <a:bodyPr>
            <a:normAutofit fontScale="90000"/>
          </a:bodyPr>
          <a:lstStyle/>
          <a:p>
            <a:r>
              <a:rPr lang="en-US" sz="3100" b="1" dirty="0"/>
              <a:t> Instructional Design Solution: Role-Based Structure</a:t>
            </a:r>
            <a:br>
              <a:rPr lang="en-US" b="1" dirty="0">
                <a:solidFill>
                  <a:srgbClr val="0D0D0D"/>
                </a:solidFill>
                <a:latin typeface="ui-sans-serif"/>
              </a:rPr>
            </a:b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AE54FA-4133-B5CC-E9FC-2E271D051B72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581025" y="2227263"/>
          <a:ext cx="542290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4FE64-F977-A8FF-B15A-DE3DC744FA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Key Design Decisions</a:t>
            </a:r>
            <a:endParaRPr lang="en-US" dirty="0"/>
          </a:p>
          <a:p>
            <a:r>
              <a:rPr lang="en-US" dirty="0"/>
              <a:t>Roles were </a:t>
            </a:r>
            <a:r>
              <a:rPr lang="en-US" b="1" dirty="0"/>
              <a:t>explicitly assigned</a:t>
            </a:r>
            <a:r>
              <a:rPr lang="en-US" dirty="0"/>
              <a:t> within teams</a:t>
            </a:r>
          </a:p>
          <a:p>
            <a:r>
              <a:rPr lang="en-US" dirty="0"/>
              <a:t>Each role carried </a:t>
            </a:r>
            <a:r>
              <a:rPr lang="en-US" b="1" dirty="0"/>
              <a:t>distinct interactional responsibilities</a:t>
            </a:r>
            <a:endParaRPr lang="en-US" dirty="0"/>
          </a:p>
          <a:p>
            <a:r>
              <a:rPr lang="en-US" dirty="0"/>
              <a:t>Role structure was embedded into an existing course project</a:t>
            </a:r>
          </a:p>
          <a:p>
            <a:r>
              <a:rPr lang="en-US" dirty="0"/>
              <a:t>Content, case, and deliverables were identical across conditions</a:t>
            </a:r>
          </a:p>
          <a:p>
            <a:r>
              <a:rPr lang="en-US" dirty="0"/>
              <a:t>Teams were either </a:t>
            </a:r>
            <a:r>
              <a:rPr lang="en-US" b="1" dirty="0"/>
              <a:t>Structured</a:t>
            </a:r>
            <a:r>
              <a:rPr lang="en-US" dirty="0"/>
              <a:t> (assigned roles) or </a:t>
            </a:r>
            <a:r>
              <a:rPr lang="en-US" b="1" dirty="0"/>
              <a:t>Unstructured</a:t>
            </a:r>
            <a:r>
              <a:rPr lang="en-US" dirty="0"/>
              <a:t> (no roles) to compare participation patterns during the discussion phase.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F23230-9B7B-B901-F9C1-510044AE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217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26E30-E881-B2A3-DC4B-B4DAE8705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impacts &amp;refinements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66B1E-FDDC-A923-5188-93F7DA9DA4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228004"/>
            <a:ext cx="5422390" cy="41591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Observed Impact</a:t>
            </a:r>
            <a:endParaRPr lang="en-US" sz="2400" dirty="0"/>
          </a:p>
          <a:p>
            <a:r>
              <a:rPr lang="en-US" sz="2100" dirty="0"/>
              <a:t>Teams with assigned roles showed: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more distributed participation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100" dirty="0"/>
              <a:t>clearer patterns of synthesis, critique, and information sharing</a:t>
            </a:r>
          </a:p>
          <a:p>
            <a:r>
              <a:rPr lang="en-US" sz="2100" dirty="0"/>
              <a:t>Certain roles (e.g., Summarizer, Skeptic) functioned as interaction hubs</a:t>
            </a:r>
          </a:p>
          <a:p>
            <a:r>
              <a:rPr lang="en-US" sz="1900" dirty="0"/>
              <a:t>The role structure helped guide collaboration and improved discussion quality within a standard course design.</a:t>
            </a:r>
            <a:endParaRPr lang="en-US" sz="15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D59D6-67DA-8E17-1FB0-C11B78678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535010" cy="4268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Design Reflection &amp; Iteration</a:t>
            </a:r>
            <a:endParaRPr lang="en-US" sz="2400" dirty="0"/>
          </a:p>
          <a:p>
            <a:r>
              <a:rPr lang="en-US" sz="2400" dirty="0"/>
              <a:t>Role clarity mattered more than discussion length.</a:t>
            </a:r>
          </a:p>
          <a:p>
            <a:r>
              <a:rPr lang="en-US" sz="2400" dirty="0"/>
              <a:t>Some roles required more support to balance cognitive demands.</a:t>
            </a:r>
          </a:p>
          <a:p>
            <a:r>
              <a:rPr lang="en-US" sz="2400" dirty="0"/>
              <a:t>The framework is adaptable to other online, team-based learning contexts.</a:t>
            </a:r>
          </a:p>
          <a:p>
            <a:r>
              <a:rPr lang="en-US" sz="2400" dirty="0"/>
              <a:t>The roles served as lightweight scaffolds for team-based analysis.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8E488F-7133-CF7D-51FE-81C4C85AC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E7843D-FF13-4365-9478-9625B70A270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4590B8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4590B8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762054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</TotalTime>
  <Words>298</Words>
  <Application>Microsoft Macintosh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Google Sans Text</vt:lpstr>
      <vt:lpstr>ui-sans-serif</vt:lpstr>
      <vt:lpstr>Arial</vt:lpstr>
      <vt:lpstr>Gill Sans MT</vt:lpstr>
      <vt:lpstr>Wingdings 2</vt:lpstr>
      <vt:lpstr>Dividend</vt:lpstr>
      <vt:lpstr>3. Data-Informed Group Formation to Improve Seminar Collaboration</vt:lpstr>
      <vt:lpstr>Course Context &amp; Design Problem</vt:lpstr>
      <vt:lpstr> Instructional Design Solution: Role-Based Structure </vt:lpstr>
      <vt:lpstr>impacts &amp;refinements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Lee, Minkyung</dc:creator>
  <cp:lastModifiedBy>Lee, Minkyung</cp:lastModifiedBy>
  <cp:revision>1</cp:revision>
  <dcterms:created xsi:type="dcterms:W3CDTF">2025-12-17T18:07:05Z</dcterms:created>
  <dcterms:modified xsi:type="dcterms:W3CDTF">2025-12-17T18:09:12Z</dcterms:modified>
</cp:coreProperties>
</file>